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31E53B-D12D-4640-9A99-D21699F6380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Sapa peserta dan perkenalkan diri secara singkat.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Jelaskan konteks Pelatihan IFP dan posisi sesi dalam rangkaian pengembangan konten digital.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Sebutkan tujuan sesi (~45 menit): konteks, teori, desain, dan studi kasus.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Lempar pertanyaan pancingan: siapa di sini yang sudah pernah pakai Kahoot atau Quizizz?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Catat respons peserta sebagai sinyal awal pemahaman tentang gamifikasi.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5F6235-3656-4C8E-911C-EF3628B202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Jelaskan alur 45 menit: dari konteks, teori, desain, hingga studi kasus.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Minta peserta menyimpan pertanyaan untuk sesi studi kasus di akhir.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Ingatkan akan ada latihan desain singkat di akhir bagian desain.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Tunjukkan bagian mana yang paling relevan untuk pengembang konten IFP.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Beri tahu estimasi waktu tiap bagian ±7 menit agar peserta siap.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0F138-12DD-4D99-AAF5-A70AEED4AB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119E1C-648B-4D11-B1A3-66529EA96B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Tekankan perbedaan game-based learning vs gamifikasi.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Sebutkan gamifikasi tidak harus pakai aplikasi mahal — bisa pakai kartu, stiker, papan kelas.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Tegaskan bahwa mekanika, dinamika, dan estetika akan dibahas detail di slide berikutnya.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Beri contoh cepat: lencana "Master Loop" = mekanika; rasa bangga = estetika.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Minta peserta menyebut satu mekanika game yang pernah mereka pakai di kelas.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DE6221-45E7-4A4F-B04F-2969C0063B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Tekankan: ketiga kebutuhan psikologis ini harus hadir bersamaan dalam desain.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Jika hanya kompetensi tanpa otonomi, siswa menjadi stres dan terjebak.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Jika hanya relasi tanpa kompetensi, aktivitas terasa hampa dan tidak bermakna.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Beri contoh sederhana dari kelas Informatika SMP sehari-hari.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Sediakan 1–2 menit untuk refleksi peserta tentang kebutuhan mana yang paling sering terlewat.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2B1A1F-0AD3-4CCE-96DB-20955466DF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8D1E66-7DFA-4E8E-9D23-F62E80FA88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Tekankan: angka adalah rata-rata lintas studi, bukan jaminan hasil di setiap kelas.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Dampak tergantung kualitas desain gamifikasi — bukan sekadar “pakai Kahoot”.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Soroti bahwa manfaat terbesar muncul pada siswa dengan motivasi awal rendah.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Ajak peserta memilih 1 dampak yang paling relevan dengan konteks sekolahnya.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Ingatkan: retensi konsep lebih penting daripada sekadar penyelesaian tugas.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F95E7-72EA-42C2-80B6-4D804C1C09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DB4A98-884C-4C60-AE2B-118AEA46AA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Tekankan langkah 1 jangan dilompati: banyak guru langsung pilih mekanika tanpa petakan TP.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Tanpa pemetaan TP, gamifikasi tidak terhubung dengan capaian pembelajaran.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Langkah 2 (estetika) menjadi kompas untuk memilih mekanika di langkah 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Ingatkan batas 2–3 mekanika inti untuk menghindari overload.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Sesi akan ditutup dengan latihan desain singkat berdasarkan 6 langkah ini.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5B739D-AB8C-491F-BB09-E757F7C726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Ceritakan asal-usul skenario “Algoritma Petualang” dari kebutuhan konkret di kelas.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Kaitkan tiap elemen dengan 6 langkah desain di slide sebelumnya (TP → estetika → narasi → mekanika).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Tekankan papan misi tim menggantikan leaderboard individu untuk menghindari kompetisi negatif.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Soroti angka 71% siswa yang sukarela melanjutkan di rumah sebagai sinyal motivasi intrinsik.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Buka diskusi: mekanika mana yang paling mungkin diadopsi di sekolah peserta?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8C0290-EC47-44A1-BF84-FA6E0BE6DA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Minta peserta memilih 1 jebakan paling relevan dengan konteks sekolahnya.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Diskusikan solusi singkat berpasangan (2 menit) sebelum lanjut ke penutup.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Tekankan overjustification: reward untuk eksplorasi justru mematikan rasa ingin tahu.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Ingatkan rubrik penilaian harus memetakan ke TP, bukan hanya menghitung poin.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Bagikan template rubrik sederhana via panitia setelah sesi.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464903-8212-481C-BA99-3D6E94C4B2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Ucapkan terima kasih atas perhatian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peserta selama ~45 menit sesi.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Undang pertanyaan dan ide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skenario dari peserta secara verbal.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Ingatkan peserta menuangkan satu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 di lembar refleksi yang dibagikan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panitia.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Tegaskan kembali: gamifikasi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adalah jembatan ke capaian, bukan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tujuan akhir.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Tutup dengan ajakan mini-pilot 15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menit minggu depan di kelas masing-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67559-9617-41AB-8429-F2C9911101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514440" y="3929040"/>
            <a:ext cx="9997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514440" y="3929040"/>
            <a:ext cx="9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14440" y="889200"/>
            <a:ext cx="3030840" cy="210240"/>
          </a:xfrm>
          <a:prstGeom prst="roundRect">
            <a:avLst>
              <a:gd name="adj" fmla="val 4515246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50240" y="939240"/>
            <a:ext cx="27093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35640" rIns="85680" bIns="3564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73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PELATIHAN IFP · PENGEMBANGAN KONTEN DIGITAL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00120" y="94104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514440" y="1285560"/>
            <a:ext cx="4525920" cy="18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509"/>
              </a:lnSpc>
              <a:tabLst>
                <a:tab pos="0" algn="l"/>
              </a:tabLst>
            </a:pPr>
            <a:r>
              <a:rPr lang="en-US" sz="3380" b="1" u="none" spc="-8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Gamifikasi untuk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09"/>
              </a:lnSpc>
              <a:tabLst>
                <a:tab pos="0" algn="l"/>
              </a:tabLst>
            </a:pPr>
            <a:r>
              <a:rPr lang="en-US" sz="3380" b="1" u="none" spc="-8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Pembelajaran Informatika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09"/>
              </a:lnSpc>
              <a:tabLst>
                <a:tab pos="0" algn="l"/>
              </a:tabLst>
            </a:pPr>
            <a:r>
              <a:rPr lang="en-US" sz="3380" b="1" u="none" spc="-8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di SMP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14440" y="3211200"/>
            <a:ext cx="400032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3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Membangun motivasi, otonomi, dan capaian pembelajaran melalui mekanika permainan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14440" y="3825720"/>
            <a:ext cx="456840" cy="28080"/>
          </a:xfrm>
          <a:prstGeom prst="roundRect">
            <a:avLst>
              <a:gd name="adj" fmla="val 66667"/>
            </a:avLst>
          </a:prstGeom>
          <a:solidFill>
            <a:srgbClr val="FF6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14440" y="4011480"/>
            <a:ext cx="4114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82"/>
              </a:lnSpc>
              <a:tabLst>
                <a:tab pos="0" algn="l"/>
              </a:tabLst>
            </a:pPr>
            <a:r>
              <a:rPr lang="en-US" sz="800" b="0" u="none" spc="40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UNTUK: GURU INFORMATIKA SMP &amp; PENGEMBANG KONTEN IFP · </a:t>
            </a:r>
            <a:r>
              <a:rPr lang="en-US" sz="800" b="0" u="none" spc="40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TAHUN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8143920" y="-357120"/>
            <a:ext cx="1428480" cy="1428480"/>
          </a:xfrm>
          <a:prstGeom prst="ellipse">
            <a:avLst/>
          </a:prstGeom>
          <a:solidFill>
            <a:srgbClr val="FFE5DC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457880" y="3929040"/>
            <a:ext cx="1714320" cy="1714320"/>
          </a:xfrm>
          <a:prstGeom prst="ellipse">
            <a:avLst/>
          </a:prstGeom>
          <a:solidFill>
            <a:srgbClr val="D4ECF0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" name="Image 1" descr="/tmp/h2p-fit-1788759160319-lm2f0e.png"/>
          <p:cNvPicPr/>
          <p:nvPr/>
        </p:nvPicPr>
        <p:blipFill>
          <a:blip r:embed="rId2"/>
          <a:stretch/>
        </p:blipFill>
        <p:spPr>
          <a:xfrm>
            <a:off x="5029200" y="428760"/>
            <a:ext cx="368568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10"/>
          <p:cNvSpPr/>
          <p:nvPr/>
        </p:nvSpPr>
        <p:spPr>
          <a:xfrm>
            <a:off x="5157720" y="4343400"/>
            <a:ext cx="2175840" cy="242640"/>
          </a:xfrm>
          <a:prstGeom prst="roundRect">
            <a:avLst>
              <a:gd name="adj" fmla="val 3917639"/>
            </a:avLst>
          </a:prstGeom>
          <a:solidFill>
            <a:srgbClr val="FFFFFF">
              <a:alpha val="9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5257800" y="4407840"/>
            <a:ext cx="1141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5429160" y="4400640"/>
            <a:ext cx="1912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12"/>
              </a:lnSpc>
              <a:tabLst>
                <a:tab pos="0" algn="l"/>
              </a:tabLst>
            </a:pPr>
            <a:r>
              <a:rPr lang="en-US" sz="670" b="0" u="none" spc="14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Belajar yang terasa seperti bermain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14440" y="387360"/>
            <a:ext cx="75780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1"/>
          <p:cNvSpPr/>
          <p:nvPr/>
        </p:nvSpPr>
        <p:spPr>
          <a:xfrm>
            <a:off x="743040" y="450000"/>
            <a:ext cx="5792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▤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1372320" y="441000"/>
            <a:ext cx="725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12"/>
              </a:lnSpc>
              <a:tabLst>
                <a:tab pos="0" algn="l"/>
              </a:tabLst>
            </a:pPr>
            <a:r>
              <a:rPr lang="en-US" sz="800" b="0" u="none" spc="54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6 BAGIAN · 45 MENIT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14440" y="710640"/>
            <a:ext cx="86292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724"/>
              </a:lnSpc>
              <a:tabLst>
                <a:tab pos="0" algn="l"/>
              </a:tabLst>
            </a:pPr>
            <a:r>
              <a:rPr lang="en-US" sz="2470" b="1" u="none" spc="-37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Yang akan kita bahas hari ini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518040" y="1260000"/>
            <a:ext cx="3993120" cy="1078560"/>
          </a:xfrm>
          <a:prstGeom prst="roundRect">
            <a:avLst>
              <a:gd name="adj" fmla="val 14125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6"/>
          <p:cNvSpPr/>
          <p:nvPr/>
        </p:nvSpPr>
        <p:spPr>
          <a:xfrm>
            <a:off x="678600" y="1406520"/>
            <a:ext cx="328320" cy="328320"/>
          </a:xfrm>
          <a:prstGeom prst="ellipse">
            <a:avLst/>
          </a:prstGeom>
          <a:solidFill>
            <a:srgbClr val="FF6B4A"/>
          </a:solidFill>
          <a:ln w="0">
            <a:noFill/>
          </a:ln>
          <a:effectLst>
            <a:outerShdw algn="bl" blurRad="95400" dir="5400000" dist="38160" kx="0" ky="0" rotWithShape="0" sx="100000" sy="100000">
              <a:srgbClr val="FF6B4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7"/>
          <p:cNvSpPr/>
          <p:nvPr/>
        </p:nvSpPr>
        <p:spPr>
          <a:xfrm>
            <a:off x="678600" y="1406520"/>
            <a:ext cx="385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519"/>
              </a:lnSpc>
              <a:tabLst>
                <a:tab pos="0" algn="l"/>
              </a:tabLst>
            </a:pPr>
            <a:r>
              <a:rPr lang="en-US" sz="1010" b="1" u="none" spc="20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01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1121400" y="1406520"/>
            <a:ext cx="24397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1216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Mengapa Gamifikasi?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1121400" y="1589400"/>
            <a:ext cx="322200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Tantangan motivasi belajar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Informatika di SMP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4632840" y="1260000"/>
            <a:ext cx="3993120" cy="1078560"/>
          </a:xfrm>
          <a:prstGeom prst="roundRect">
            <a:avLst>
              <a:gd name="adj" fmla="val 14125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4793400" y="1406520"/>
            <a:ext cx="328320" cy="328320"/>
          </a:xfrm>
          <a:prstGeom prst="ellipse">
            <a:avLst/>
          </a:prstGeom>
          <a:solidFill>
            <a:srgbClr val="0E5C6B"/>
          </a:solidFill>
          <a:ln w="0">
            <a:noFill/>
          </a:ln>
          <a:effectLst>
            <a:outerShdw algn="bl" blurRad="95400" dir="5400000" dist="38160" kx="0" ky="0" rotWithShape="0" sx="100000" sy="100000">
              <a:srgbClr val="0E5C6B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4793400" y="1406520"/>
            <a:ext cx="385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519"/>
              </a:lnSpc>
              <a:tabLst>
                <a:tab pos="0" algn="l"/>
              </a:tabLst>
            </a:pPr>
            <a:r>
              <a:rPr lang="en-US" sz="1010" b="1" u="none" spc="20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02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5236200" y="1406520"/>
            <a:ext cx="2914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216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Definisi &amp; Inti Gamifikasi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5236200" y="1589400"/>
            <a:ext cx="322200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Bukan sekadar "main", tapi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mekanika yang dirancang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518040" y="2460600"/>
            <a:ext cx="3993120" cy="1078560"/>
          </a:xfrm>
          <a:prstGeom prst="roundRect">
            <a:avLst>
              <a:gd name="adj" fmla="val 14125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78600" y="2606760"/>
            <a:ext cx="328320" cy="328320"/>
          </a:xfrm>
          <a:prstGeom prst="ellipse">
            <a:avLst/>
          </a:prstGeom>
          <a:solidFill>
            <a:srgbClr val="FF6B4A"/>
          </a:solidFill>
          <a:ln w="0">
            <a:noFill/>
          </a:ln>
          <a:effectLst>
            <a:outerShdw algn="bl" blurRad="95400" dir="5400000" dist="38160" kx="0" ky="0" rotWithShape="0" sx="100000" sy="100000">
              <a:srgbClr val="FF6B4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678600" y="2606760"/>
            <a:ext cx="385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519"/>
              </a:lnSpc>
              <a:tabLst>
                <a:tab pos="0" algn="l"/>
              </a:tabLst>
            </a:pPr>
            <a:r>
              <a:rPr lang="en-US" sz="1010" b="1" u="none" spc="20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03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1121400" y="2606760"/>
            <a:ext cx="19742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1216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Teori Motivasi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1121400" y="2789640"/>
            <a:ext cx="3222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4632840" y="2460600"/>
            <a:ext cx="3993120" cy="1078560"/>
          </a:xfrm>
          <a:prstGeom prst="roundRect">
            <a:avLst>
              <a:gd name="adj" fmla="val 14125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4793400" y="2606760"/>
            <a:ext cx="328320" cy="328320"/>
          </a:xfrm>
          <a:prstGeom prst="ellipse">
            <a:avLst/>
          </a:prstGeom>
          <a:solidFill>
            <a:srgbClr val="0E5C6B"/>
          </a:solidFill>
          <a:ln w="0">
            <a:noFill/>
          </a:ln>
          <a:effectLst>
            <a:outerShdw algn="bl" blurRad="95400" dir="5400000" dist="38160" kx="0" ky="0" rotWithShape="0" sx="100000" sy="100000">
              <a:srgbClr val="0E5C6B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4793400" y="2606760"/>
            <a:ext cx="385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519"/>
              </a:lnSpc>
              <a:tabLst>
                <a:tab pos="0" algn="l"/>
              </a:tabLst>
            </a:pPr>
            <a:r>
              <a:rPr lang="en-US" sz="1010" b="1" u="none" spc="20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04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5236200" y="2606760"/>
            <a:ext cx="32364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216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Manfaat untuk Pembelajaran Informatika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5236200" y="2789640"/>
            <a:ext cx="3222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Engagement, retensi, sikap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terhadap pembelajaran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518040" y="3660840"/>
            <a:ext cx="3993120" cy="1078560"/>
          </a:xfrm>
          <a:prstGeom prst="roundRect">
            <a:avLst>
              <a:gd name="adj" fmla="val 14124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678600" y="3807360"/>
            <a:ext cx="328320" cy="328320"/>
          </a:xfrm>
          <a:prstGeom prst="ellipse">
            <a:avLst/>
          </a:prstGeom>
          <a:solidFill>
            <a:srgbClr val="FF6B4A"/>
          </a:solidFill>
          <a:ln w="0">
            <a:noFill/>
          </a:ln>
          <a:effectLst>
            <a:outerShdw algn="bl" blurRad="95400" dir="5400000" dist="38160" kx="0" ky="0" rotWithShape="0" sx="100000" sy="100000">
              <a:srgbClr val="FF6B4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678600" y="3807360"/>
            <a:ext cx="385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519"/>
              </a:lnSpc>
              <a:tabLst>
                <a:tab pos="0" algn="l"/>
              </a:tabLst>
            </a:pPr>
            <a:r>
              <a:rPr lang="en-US" sz="1010" b="1" u="none" spc="20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05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1121400" y="3807360"/>
            <a:ext cx="23950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216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Liberation Sans Narrow"/>
                <a:ea typeface="Liberation Sans Narrow"/>
              </a:rPr>
              <a:t>6 Langkah Desain Aktivitas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1121400" y="4098240"/>
            <a:ext cx="3222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Dari capaian pembelajaran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hingga prototipe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4632840" y="3660840"/>
            <a:ext cx="3993120" cy="1078560"/>
          </a:xfrm>
          <a:prstGeom prst="roundRect">
            <a:avLst>
              <a:gd name="adj" fmla="val 14124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4793400" y="3807360"/>
            <a:ext cx="328320" cy="328320"/>
          </a:xfrm>
          <a:prstGeom prst="ellipse">
            <a:avLst/>
          </a:prstGeom>
          <a:solidFill>
            <a:srgbClr val="0E5C6B"/>
          </a:solidFill>
          <a:ln w="0">
            <a:noFill/>
          </a:ln>
          <a:effectLst>
            <a:outerShdw algn="bl" blurRad="95400" dir="5400000" dist="38160" kx="0" ky="0" rotWithShape="0" sx="100000" sy="100000">
              <a:srgbClr val="0E5C6B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4793400" y="3807360"/>
            <a:ext cx="385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519"/>
              </a:lnSpc>
              <a:tabLst>
                <a:tab pos="0" algn="l"/>
              </a:tabLst>
            </a:pPr>
            <a:r>
              <a:rPr lang="en-US" sz="1010" b="1" u="none" spc="20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06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5236200" y="3807360"/>
            <a:ext cx="3121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1216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 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&amp; 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fl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01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5236200" y="4026240"/>
            <a:ext cx="3222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Contoh skenario "Algoritma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42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Petualang" + kegagalan umum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SLIDE 02 · GAMIFIKASI INFORMATIKA SMP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6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7786800" y="3857760"/>
            <a:ext cx="1999800" cy="1999800"/>
          </a:xfrm>
          <a:prstGeom prst="ellipse">
            <a:avLst/>
          </a:prstGeom>
          <a:solidFill>
            <a:srgbClr val="FFE5DC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514440" y="3643200"/>
            <a:ext cx="121392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1"/>
          <p:cNvSpPr/>
          <p:nvPr/>
        </p:nvSpPr>
        <p:spPr>
          <a:xfrm>
            <a:off x="514440" y="3643200"/>
            <a:ext cx="12139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2"/>
          <p:cNvSpPr/>
          <p:nvPr/>
        </p:nvSpPr>
        <p:spPr>
          <a:xfrm>
            <a:off x="514440" y="1964520"/>
            <a:ext cx="384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12"/>
              </a:lnSpc>
              <a:tabLst>
                <a:tab pos="0" algn="l"/>
              </a:tabLst>
            </a:pPr>
            <a:r>
              <a:rPr lang="en-US" sz="800" b="0" u="none" spc="122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BAGIAN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514440" y="2193120"/>
            <a:ext cx="36525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5400" b="1" u="none" spc="-108" strike="noStrike">
                <a:solidFill>
                  <a:srgbClr val="D4ECF0"/>
                </a:solidFill>
                <a:effectLst/>
                <a:uFillTx/>
                <a:latin typeface="Liberation Sans Narrow"/>
                <a:ea typeface="Liberation Sans Narrow"/>
              </a:rPr>
              <a:t>01</a:t>
            </a:r>
            <a:r>
              <a:rPr lang="en-US" sz="5400" b="1" u="none" spc="-108" strike="noStrike">
                <a:solidFill>
                  <a:srgbClr val="D4ECF0">
                    <a:alpha val="60000"/>
                  </a:srgbClr>
                </a:solidFill>
                <a:effectLst/>
                <a:uFillTx/>
                <a:latin typeface="Calibri"/>
                <a:ea typeface="Calibri"/>
              </a:rPr>
              <a:t> /</a:t>
            </a:r>
            <a:r>
              <a:rPr lang="en-US" sz="3600" b="1" u="none" spc="-108" strike="noStrike">
                <a:solidFill>
                  <a:srgbClr val="D4ECF0"/>
                </a:solidFill>
                <a:effectLst/>
                <a:uFillTx/>
                <a:latin typeface="Liberation Sans Narrow"/>
                <a:ea typeface="Liberation Sans Narrow"/>
              </a:rPr>
              <a:t>04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514440" y="3103920"/>
            <a:ext cx="342720" cy="21240"/>
          </a:xfrm>
          <a:prstGeom prst="roundRect">
            <a:avLst>
              <a:gd name="adj" fmla="val 88890"/>
            </a:avLst>
          </a:prstGeom>
          <a:solidFill>
            <a:srgbClr val="FF6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5"/>
          <p:cNvSpPr/>
          <p:nvPr/>
        </p:nvSpPr>
        <p:spPr>
          <a:xfrm>
            <a:off x="928800" y="3050280"/>
            <a:ext cx="2271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12"/>
              </a:lnSpc>
              <a:tabLst>
                <a:tab pos="0" algn="l"/>
              </a:tabLst>
            </a:pPr>
            <a:r>
              <a:rPr lang="en-US" sz="800" b="0" u="none" spc="82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KONTEKS &amp; URGENSI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2"/>
          <a:stretch/>
        </p:blipFill>
        <p:spPr>
          <a:xfrm>
            <a:off x="3200400" y="857160"/>
            <a:ext cx="684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6"/>
          <p:cNvSpPr/>
          <p:nvPr/>
        </p:nvSpPr>
        <p:spPr>
          <a:xfrm>
            <a:off x="3577680" y="1225080"/>
            <a:ext cx="1607040" cy="235800"/>
          </a:xfrm>
          <a:prstGeom prst="roundRect">
            <a:avLst>
              <a:gd name="adj" fmla="val 4031468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7"/>
          <p:cNvSpPr/>
          <p:nvPr/>
        </p:nvSpPr>
        <p:spPr>
          <a:xfrm>
            <a:off x="3828960" y="1287720"/>
            <a:ext cx="12470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C0462C"/>
                </a:solidFill>
                <a:effectLst/>
                <a:uFillTx/>
                <a:latin typeface="Calibri"/>
                <a:ea typeface="Calibri"/>
              </a:rPr>
              <a:t>PERTANYAAN PEMBUKA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3686040" y="129312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?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3600360" y="1620000"/>
            <a:ext cx="502884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158"/>
              </a:lnSpc>
              <a:tabLst>
                <a:tab pos="0" algn="l"/>
              </a:tabLst>
            </a:pPr>
            <a:r>
              <a:rPr lang="en-US" sz="2930" b="1" u="none" spc="-57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Mengapa Gamifikasi relevan untuk Informatika SMP?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3600360" y="2980440"/>
            <a:ext cx="45716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87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Tiga tekanan yang dihadapi guru </a:t>
            </a:r>
            <a:r>
              <a:rPr lang="en-US" sz="113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Informatika hari ini — dan cara </a:t>
            </a:r>
            <a:r>
              <a:rPr lang="en-US" sz="113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gamifikasi menjawabnya.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3600360" y="3625200"/>
            <a:ext cx="1143000" cy="293040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3857760" y="3716280"/>
            <a:ext cx="9216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Motivasi siswa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3707640" y="371808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4815360" y="3625200"/>
            <a:ext cx="1152720" cy="293040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5072400" y="3716280"/>
            <a:ext cx="9309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Fokus &amp; atensi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6"/>
          <p:cNvSpPr/>
          <p:nvPr/>
        </p:nvSpPr>
        <p:spPr>
          <a:xfrm>
            <a:off x="4922280" y="371808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6039720" y="3625200"/>
            <a:ext cx="979200" cy="293040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6296760" y="3716280"/>
            <a:ext cx="23324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Beban guru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9"/>
          <p:cNvSpPr/>
          <p:nvPr/>
        </p:nvSpPr>
        <p:spPr>
          <a:xfrm>
            <a:off x="6146640" y="371808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BAGIAN 01 · KONTEKS &amp; URGENSI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91400" y="387360"/>
            <a:ext cx="81936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1"/>
          <p:cNvSpPr/>
          <p:nvPr/>
        </p:nvSpPr>
        <p:spPr>
          <a:xfrm>
            <a:off x="684720" y="450000"/>
            <a:ext cx="575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73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DEFINISI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▤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514440" y="739440"/>
            <a:ext cx="383004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ifi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ka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si </a:t>
            </a:r>
            <a:r>
              <a:rPr lang="en-US" sz="2250" b="1" u="none" spc="-45" strike="noStrike">
                <a:solidFill>
                  <a:srgbClr val="FF6B4A"/>
                </a:solidFill>
                <a:effectLst/>
                <a:uFillTx/>
                <a:latin typeface="Calibri"/>
                <a:ea typeface="Calibri"/>
              </a:rPr>
              <a:t>≠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ua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sis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be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ai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ga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2250" b="1" u="none" spc="-45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e.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14440" y="1536480"/>
            <a:ext cx="38300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Gamifikasi adalah penerapan mekanika permainan — poin, level, misi, lencana, papan peringkat, umpan balik instan — ke dalam konteks non-permainan untuk mendorong perilaku dan motivasi belajar tertentu.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14440" y="2382120"/>
            <a:ext cx="38300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Dalam pembelajaran Informatika SMP, gamifikasi membungkus konsep abstrak tentang pengetahuan dengan teknik motorik (mekanika) dalam game, dalam narasi misi yang terasa dekat dengan keseharian siswa — misalnya menjadi penjaga hutan digital atau perancang kota cerdas dan lain sebagainya.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514440" y="3706920"/>
            <a:ext cx="873720" cy="293040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7"/>
          <p:cNvSpPr/>
          <p:nvPr/>
        </p:nvSpPr>
        <p:spPr>
          <a:xfrm>
            <a:off x="771480" y="3798360"/>
            <a:ext cx="6523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Mekanika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621360" y="380016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1459800" y="3706920"/>
            <a:ext cx="862200" cy="293040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1716840" y="3798360"/>
            <a:ext cx="6408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Dina</a:t>
            </a: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mika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1567080" y="380016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2393640" y="3706920"/>
            <a:ext cx="798120" cy="293040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2651040" y="3798360"/>
            <a:ext cx="16934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Estetika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2500920" y="3800160"/>
            <a:ext cx="1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C5CE7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0" descr="/tmp/h2p-fit-1788759160462-vmo4ys.png"/>
          <p:cNvPicPr/>
          <p:nvPr/>
        </p:nvPicPr>
        <p:blipFill>
          <a:blip r:embed="rId1"/>
          <a:stretch/>
        </p:blipFill>
        <p:spPr>
          <a:xfrm>
            <a:off x="4744800" y="714240"/>
            <a:ext cx="3884760" cy="371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5"/>
          <p:cNvSpPr/>
          <p:nvPr/>
        </p:nvSpPr>
        <p:spPr>
          <a:xfrm>
            <a:off x="4858920" y="828720"/>
            <a:ext cx="2724480" cy="281880"/>
          </a:xfrm>
          <a:prstGeom prst="roundRect">
            <a:avLst>
              <a:gd name="adj" fmla="val 40506"/>
            </a:avLst>
          </a:prstGeom>
          <a:solidFill>
            <a:srgbClr val="FFFFFF">
              <a:alpha val="95000"/>
            </a:srgbClr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F22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4959000" y="905400"/>
            <a:ext cx="128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5144760" y="900000"/>
            <a:ext cx="24483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mi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fik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as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 = 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be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laj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ar 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ek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an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ik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pe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ai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800" b="1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7843680" y="3643200"/>
            <a:ext cx="999720" cy="999720"/>
          </a:xfrm>
          <a:prstGeom prst="ellipse">
            <a:avLst/>
          </a:prstGeom>
          <a:solidFill>
            <a:srgbClr val="FF6B4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04 · DEFINISI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7330680" y="4414680"/>
            <a:ext cx="181296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7875"/>
              </a:lnSpc>
              <a:tabLst>
                <a:tab pos="0" algn="l"/>
              </a:tabLst>
            </a:pPr>
            <a:r>
              <a:rPr lang="en-US" sz="7869" b="1" u="none" strike="noStrike">
                <a:solidFill>
                  <a:srgbClr val="0E5C6B">
                    <a:alpha val="5000"/>
                  </a:srgbClr>
                </a:solidFill>
                <a:effectLst/>
                <a:uFillTx/>
                <a:latin typeface="Liberation Sans Narrow"/>
                <a:ea typeface="Liberation Sans Narrow"/>
              </a:rPr>
              <a:t>03</a:t>
            </a:r>
            <a:endParaRPr lang="en-US" sz="7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91400" y="387360"/>
            <a:ext cx="67608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714960" y="450000"/>
            <a:ext cx="3718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73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TEO</a:t>
            </a:r>
            <a:r>
              <a:rPr lang="en-US" sz="73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RI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◯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514440" y="696600"/>
            <a:ext cx="8629200" cy="67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458"/>
              </a:lnSpc>
              <a:tabLst>
                <a:tab pos="0" algn="l"/>
              </a:tabLst>
            </a:pPr>
            <a:r>
              <a:rPr lang="en-US" sz="2140" b="1" u="none" spc="-2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Tiga kebutuhan psikologis yang menggerakkan siswa SMP belajar</a:t>
            </a:r>
            <a:endParaRPr lang="en-US" sz="2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514440" y="1406520"/>
            <a:ext cx="8115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95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Self-Determination Theory (Deci &amp; Ryan, 2000) — didukung oleh riset gamifikasi pendidikan.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14440" y="1783440"/>
            <a:ext cx="2590200" cy="2714400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0">
            <a:noFill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514080" y="1797840"/>
            <a:ext cx="2590920" cy="360"/>
          </a:xfrm>
          <a:prstGeom prst="line">
            <a:avLst/>
          </a:prstGeom>
          <a:ln w="28575">
            <a:solidFill>
              <a:srgbClr val="0E5C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3101400" y="1783440"/>
            <a:ext cx="360" cy="27147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517680" y="1783440"/>
            <a:ext cx="360" cy="27147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721440" y="2012040"/>
            <a:ext cx="285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1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◆</a:t>
            </a:r>
            <a:endParaRPr lang="en-US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721440" y="2383560"/>
            <a:ext cx="2176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pc="-14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Otonomi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721440" y="2726640"/>
            <a:ext cx="2250360" cy="13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Siswa merasa memiliki pilihan — </a:t>
            </a: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misi mana yang dikerjakan lebih </a:t>
            </a: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dulu, strategi apa yang dipakai. </a:t>
            </a: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Pilihan kecil menciptakan rasa </a:t>
            </a: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kendali.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3276360" y="1783440"/>
            <a:ext cx="2590560" cy="2714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3276360" y="1797840"/>
            <a:ext cx="2590920" cy="360"/>
          </a:xfrm>
          <a:prstGeom prst="line">
            <a:avLst/>
          </a:prstGeom>
          <a:ln w="28575">
            <a:solidFill>
              <a:srgbClr val="FF6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8"/>
          <p:cNvSpPr/>
          <p:nvPr/>
        </p:nvSpPr>
        <p:spPr>
          <a:xfrm>
            <a:off x="5863680" y="1783440"/>
            <a:ext cx="360" cy="27147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0"/>
          <p:cNvSpPr/>
          <p:nvPr/>
        </p:nvSpPr>
        <p:spPr>
          <a:xfrm>
            <a:off x="3279960" y="1783440"/>
            <a:ext cx="360" cy="27147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1"/>
          <p:cNvSpPr/>
          <p:nvPr/>
        </p:nvSpPr>
        <p:spPr>
          <a:xfrm>
            <a:off x="3483720" y="2012040"/>
            <a:ext cx="285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1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◆</a:t>
            </a:r>
            <a:endParaRPr lang="en-US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3483720" y="2383560"/>
            <a:ext cx="2176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pc="-14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Kompetensi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3"/>
          <p:cNvSpPr/>
          <p:nvPr/>
        </p:nvSpPr>
        <p:spPr>
          <a:xfrm>
            <a:off x="3483720" y="2726640"/>
            <a:ext cx="217620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Tugas dirancang menantang tetapi dapat dicapai — progres terlihat, kesalahan menjadi umpan balik, bukan vonis. Level naik memberi sinyal kemajuan.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6"/>
          <p:cNvSpPr/>
          <p:nvPr/>
        </p:nvSpPr>
        <p:spPr>
          <a:xfrm>
            <a:off x="6038640" y="1783440"/>
            <a:ext cx="2590200" cy="2714400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0">
            <a:noFill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Shape 27"/>
          <p:cNvSpPr/>
          <p:nvPr/>
        </p:nvSpPr>
        <p:spPr>
          <a:xfrm>
            <a:off x="6038640" y="1797840"/>
            <a:ext cx="2590560" cy="360"/>
          </a:xfrm>
          <a:prstGeom prst="line">
            <a:avLst/>
          </a:prstGeom>
          <a:ln w="28575">
            <a:solidFill>
              <a:srgbClr val="6C5C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8"/>
          <p:cNvSpPr/>
          <p:nvPr/>
        </p:nvSpPr>
        <p:spPr>
          <a:xfrm>
            <a:off x="8625960" y="1783440"/>
            <a:ext cx="360" cy="27147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0"/>
          <p:cNvSpPr/>
          <p:nvPr/>
        </p:nvSpPr>
        <p:spPr>
          <a:xfrm>
            <a:off x="6042240" y="1783440"/>
            <a:ext cx="360" cy="27147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6246000" y="2012040"/>
            <a:ext cx="285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10" b="0" u="none" strike="noStrike">
                <a:solidFill>
                  <a:srgbClr val="6C5CE7"/>
                </a:solidFill>
                <a:effectLst/>
                <a:uFillTx/>
                <a:latin typeface="Segoe UI Symbol"/>
                <a:ea typeface="Segoe UI Symbol"/>
              </a:rPr>
              <a:t>♟</a:t>
            </a:r>
            <a:endParaRPr lang="en-US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2"/>
          <p:cNvSpPr/>
          <p:nvPr/>
        </p:nvSpPr>
        <p:spPr>
          <a:xfrm>
            <a:off x="6246000" y="2383560"/>
            <a:ext cx="2176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pc="-14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Relasi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3"/>
          <p:cNvSpPr/>
          <p:nvPr/>
        </p:nvSpPr>
        <p:spPr>
          <a:xfrm>
            <a:off x="6246000" y="2726640"/>
            <a:ext cx="21762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Belajar terasa sosial — kolaborasi tim, papan peringkat, peer review. Interaksi positif dengan teman meningkatkan persistensi menghadapi tugas sulit.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6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05 · TEORI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7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91400" y="387360"/>
            <a:ext cx="94392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720000" y="450000"/>
            <a:ext cx="6300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KERANGKA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✿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14440" y="696600"/>
            <a:ext cx="8629200" cy="67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458"/>
              </a:lnSpc>
              <a:tabLst>
                <a:tab pos="0" algn="l"/>
              </a:tabLst>
            </a:pPr>
            <a:r>
              <a:rPr lang="en-US" sz="2140" b="1" u="none" spc="-2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MDA: bahasa desain gamifikasi yang sama antara guru &amp; pengembang.</a:t>
            </a:r>
            <a:endParaRPr lang="en-US" sz="2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514440" y="1406520"/>
            <a:ext cx="8115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95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Hunicke,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LeBlanc &amp;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Zubek (2004)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— kerangka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yang dipakai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industri game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dan diadopsi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pendidikan.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514440" y="1755000"/>
            <a:ext cx="2457000" cy="1999800"/>
          </a:xfrm>
          <a:prstGeom prst="roundRect">
            <a:avLst>
              <a:gd name="adj" fmla="val 7619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685800" y="1926360"/>
            <a:ext cx="2114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88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MEKANIKA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685800" y="211572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⚙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685800" y="2415960"/>
            <a:ext cx="2057400" cy="10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Komponen sistem yang bisa dikonfigurasi: poin,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level, lencana, timer, leaderboard, quest,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random reward.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3057480" y="265500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7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→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3343320" y="1755000"/>
            <a:ext cx="2457000" cy="1999800"/>
          </a:xfrm>
          <a:prstGeom prst="roundRect">
            <a:avLst>
              <a:gd name="adj" fmla="val 7619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3514680" y="1926360"/>
            <a:ext cx="2114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88" strike="noStrike">
                <a:solidFill>
                  <a:srgbClr val="9A3520"/>
                </a:solidFill>
                <a:effectLst/>
                <a:uFillTx/>
                <a:latin typeface="Calibri"/>
                <a:ea typeface="Calibri"/>
              </a:rPr>
              <a:t>DINAMIKA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3514680" y="211572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9A3520"/>
                </a:solidFill>
                <a:effectLst/>
                <a:uFillTx/>
                <a:latin typeface="Segoe UI Symbol"/>
                <a:ea typeface="Segoe UI Symbol"/>
              </a:rPr>
              <a:t>↻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3514680" y="2415960"/>
            <a:ext cx="211428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Pola perilaku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yang muncul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saat siswa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berinteraksi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dengan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mekanika: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kompetisi,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kolaborasi,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farming poin, </a:t>
            </a: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eksplorasi.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5886360" y="265500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7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→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6172200" y="1755000"/>
            <a:ext cx="2457000" cy="1999800"/>
          </a:xfrm>
          <a:prstGeom prst="roundRect">
            <a:avLst>
              <a:gd name="adj" fmla="val 7619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6343560" y="1926360"/>
            <a:ext cx="2114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88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ESTETIKA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6343560" y="211572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0"/>
          <p:cNvSpPr/>
          <p:nvPr/>
        </p:nvSpPr>
        <p:spPr>
          <a:xfrm>
            <a:off x="6343560" y="2415960"/>
            <a:ext cx="211428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Pengalaman emosional yang dirasakan: kegembiraan, pencapaian, penasaran, keterhubungan. Inilah tujuan akhir.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2"/>
          <p:cNvSpPr/>
          <p:nvPr/>
        </p:nvSpPr>
        <p:spPr>
          <a:xfrm>
            <a:off x="514440" y="3898080"/>
            <a:ext cx="8115120" cy="49968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0">
            <a:noFill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Shape 23"/>
          <p:cNvSpPr/>
          <p:nvPr/>
        </p:nvSpPr>
        <p:spPr>
          <a:xfrm>
            <a:off x="514080" y="3901680"/>
            <a:ext cx="8115480" cy="3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8625960" y="3898080"/>
            <a:ext cx="360" cy="50004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5"/>
          <p:cNvSpPr/>
          <p:nvPr/>
        </p:nvSpPr>
        <p:spPr>
          <a:xfrm>
            <a:off x="514080" y="4394520"/>
            <a:ext cx="8115480" cy="360"/>
          </a:xfrm>
          <a:prstGeom prst="line">
            <a:avLst/>
          </a:prstGeom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528480" y="3898080"/>
            <a:ext cx="360" cy="500040"/>
          </a:xfrm>
          <a:prstGeom prst="line">
            <a:avLst/>
          </a:prstGeom>
          <a:ln w="28575">
            <a:solidFill>
              <a:srgbClr val="FF6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7"/>
          <p:cNvSpPr/>
          <p:nvPr/>
        </p:nvSpPr>
        <p:spPr>
          <a:xfrm>
            <a:off x="685800" y="4019760"/>
            <a:ext cx="256680" cy="256680"/>
          </a:xfrm>
          <a:prstGeom prst="roundRect">
            <a:avLst>
              <a:gd name="adj" fmla="val 3700000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700560" y="403416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9A3520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1042920" y="4070520"/>
            <a:ext cx="74361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222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Aturan emas:</a:t>
            </a:r>
            <a:r>
              <a:rPr lang="en-US" sz="82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 mulai desain dari Estetika (apa yang ingin siswa rasakan), baru tentukan Mekanika. Jangan terbalik.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06 · KERANGKA MDA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91400" y="387360"/>
            <a:ext cx="86112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715680" y="450000"/>
            <a:ext cx="5554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MANFAAT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◆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14440" y="696600"/>
            <a:ext cx="8629200" cy="67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458"/>
              </a:lnSpc>
              <a:tabLst>
                <a:tab pos="0" algn="l"/>
              </a:tabLst>
            </a:pPr>
            <a:r>
              <a:rPr lang="en-US" sz="2140" b="1" u="none" spc="-2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Empat dampak terukur dari gamifikasi di kelas Informatika.</a:t>
            </a:r>
            <a:endParaRPr lang="en-US" sz="2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14440" y="1492200"/>
            <a:ext cx="3314520" cy="1571400"/>
          </a:xfrm>
          <a:prstGeom prst="roundRect">
            <a:avLst>
              <a:gd name="adj" fmla="val 9697"/>
            </a:avLst>
          </a:prstGeom>
          <a:solidFill>
            <a:srgbClr val="0E5C6B"/>
          </a:solidFill>
          <a:ln w="0">
            <a:noFill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2971800" y="2206440"/>
            <a:ext cx="1142640" cy="1142640"/>
          </a:xfrm>
          <a:prstGeom prst="ellipse">
            <a:avLst/>
          </a:prstGeom>
          <a:solidFill>
            <a:srgbClr val="FF6B4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685800" y="1663560"/>
            <a:ext cx="33069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AKTIVASI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636480" y="2225880"/>
            <a:ext cx="330696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6000" b="1" u="none" spc="-71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+34%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685800" y="2720160"/>
            <a:ext cx="34290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82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Calibri"/>
                <a:ea typeface="Calibri"/>
              </a:rPr>
              <a:t>peningkatan pengerjaan tugas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3943440" y="1492200"/>
            <a:ext cx="4686120" cy="1571400"/>
          </a:xfrm>
          <a:prstGeom prst="roundRect">
            <a:avLst>
              <a:gd name="adj" fmla="val 9697"/>
            </a:avLst>
          </a:prstGeom>
          <a:solidFill>
            <a:srgbClr val="FFE5DC"/>
          </a:solidFill>
          <a:ln w="0">
            <a:noFill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4114800" y="1663560"/>
            <a:ext cx="434304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9A3520"/>
                </a:solidFill>
                <a:effectLst/>
                <a:uFillTx/>
                <a:latin typeface="Calibri"/>
                <a:ea typeface="Calibri"/>
              </a:rPr>
              <a:t>SIKAP </a:t>
            </a:r>
            <a:r>
              <a:rPr lang="en-US" sz="800" b="1" u="none" spc="99" strike="noStrike">
                <a:solidFill>
                  <a:srgbClr val="9A3520"/>
                </a:solidFill>
                <a:effectLst/>
                <a:uFillTx/>
                <a:latin typeface="Calibri"/>
                <a:ea typeface="Calibri"/>
              </a:rPr>
              <a:t>BELAJ</a:t>
            </a:r>
            <a:r>
              <a:rPr lang="en-US" sz="800" b="1" u="none" spc="99" strike="noStrike">
                <a:solidFill>
                  <a:srgbClr val="9A3520"/>
                </a:solidFill>
                <a:effectLst/>
                <a:uFillTx/>
                <a:latin typeface="Calibri"/>
                <a:ea typeface="Calibri"/>
              </a:rPr>
              <a:t>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4114800" y="1838520"/>
            <a:ext cx="44528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en-US" sz="1240" b="1" u="none" spc="-11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Sikap terhadap pembelajaran Informatika ke guru membaik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518040" y="3181680"/>
            <a:ext cx="2621520" cy="1564200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693000" y="335664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7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▦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693000" y="3628080"/>
            <a:ext cx="22712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Retensi </a:t>
            </a: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konsep </a:t>
            </a: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loop &amp; </a:t>
            </a: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kondisi</a:t>
            </a: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onal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685800" y="3886200"/>
            <a:ext cx="2278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Naik </a:t>
            </a:r>
            <a:r>
              <a:rPr lang="en-US" sz="800" b="1" u="none" strike="noStrike">
                <a:solidFill>
                  <a:srgbClr val="9A3520"/>
                </a:solidFill>
                <a:effectLst/>
                <a:uFillTx/>
                <a:latin typeface="Liberation Sans Narrow"/>
                <a:ea typeface="Liberation Sans Narrow"/>
              </a:rPr>
              <a:t>28%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pada tes tertunda 2 minggu setelah pembelajaran.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3261240" y="3181680"/>
            <a:ext cx="2621520" cy="1564200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3436200" y="335664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7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◌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3436200" y="3628080"/>
            <a:ext cx="23810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Diskusi antar-siswa meningkat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1"/>
          <p:cNvSpPr/>
          <p:nvPr/>
        </p:nvSpPr>
        <p:spPr>
          <a:xfrm>
            <a:off x="3436200" y="3886200"/>
            <a:ext cx="2271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Pertanyaan spontan di kelas naik </a:t>
            </a:r>
            <a:r>
              <a:rPr lang="en-US" sz="800" b="1" u="none" strike="noStrike">
                <a:solidFill>
                  <a:srgbClr val="9A3520"/>
                </a:solidFill>
                <a:effectLst/>
                <a:uFillTx/>
                <a:latin typeface="Liberation Sans Narrow"/>
                <a:ea typeface="Liberation Sans Narrow"/>
              </a:rPr>
              <a:t>3× lipat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saat ada papan misi tim.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2"/>
          <p:cNvSpPr/>
          <p:nvPr/>
        </p:nvSpPr>
        <p:spPr>
          <a:xfrm>
            <a:off x="6004440" y="3181680"/>
            <a:ext cx="2621520" cy="1564200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6179400" y="335664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7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＋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4"/>
          <p:cNvSpPr/>
          <p:nvPr/>
        </p:nvSpPr>
        <p:spPr>
          <a:xfrm>
            <a:off x="6179400" y="3628080"/>
            <a:ext cx="22712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Aksesibilitas naik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5"/>
          <p:cNvSpPr/>
          <p:nvPr/>
        </p:nvSpPr>
        <p:spPr>
          <a:xfrm>
            <a:off x="6179400" y="3886200"/>
            <a:ext cx="2271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Siswa dengan motivasi rendah tetap mengikuti </a:t>
            </a:r>
            <a:r>
              <a:rPr lang="en-US" sz="800" b="1" u="none" strike="noStrike">
                <a:solidFill>
                  <a:srgbClr val="9A3520"/>
                </a:solidFill>
                <a:effectLst/>
                <a:uFillTx/>
                <a:latin typeface="Liberation Sans Narrow"/>
                <a:ea typeface="Liberation Sans Narrow"/>
              </a:rPr>
              <a:t>80%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aktivitas — vs 45% pada kelas konvensional.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6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07 · MANFAAT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7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-642960" y="3500280"/>
            <a:ext cx="2285640" cy="2285640"/>
          </a:xfrm>
          <a:prstGeom prst="ellipse">
            <a:avLst/>
          </a:prstGeom>
          <a:solidFill>
            <a:srgbClr val="FFE5DC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7858080" y="-428760"/>
            <a:ext cx="1571400" cy="1571400"/>
          </a:xfrm>
          <a:prstGeom prst="ellipse">
            <a:avLst/>
          </a:prstGeom>
          <a:solidFill>
            <a:srgbClr val="D4ECF0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BAGIAN 02 · DESAIN AKTIVITAS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7486560" y="399960"/>
            <a:ext cx="114264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4"/>
          <p:cNvSpPr/>
          <p:nvPr/>
        </p:nvSpPr>
        <p:spPr>
          <a:xfrm>
            <a:off x="7486560" y="399960"/>
            <a:ext cx="114264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514440" y="451800"/>
            <a:ext cx="199800" cy="14040"/>
          </a:xfrm>
          <a:prstGeom prst="roundRect">
            <a:avLst>
              <a:gd name="adj" fmla="val 66664"/>
            </a:avLst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771480" y="399960"/>
            <a:ext cx="85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111" strike="noStrike">
                <a:solidFill>
                  <a:srgbClr val="0E5C6B"/>
                </a:solidFill>
                <a:effectLst/>
                <a:uFillTx/>
                <a:latin typeface="Liberation Sans Narrow"/>
                <a:ea typeface="Liberation Sans Narrow"/>
              </a:rPr>
              <a:t>BAGIAN 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14440" y="2000160"/>
            <a:ext cx="416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12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BAGIA</a:t>
            </a:r>
            <a:r>
              <a:rPr lang="en-US" sz="800" b="1" u="none" spc="150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514440" y="2214720"/>
            <a:ext cx="12333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5400" b="1" u="none" spc="-215" strike="noStrike">
                <a:solidFill>
                  <a:srgbClr val="FFB199"/>
                </a:solidFill>
                <a:effectLst/>
                <a:uFillTx/>
                <a:latin typeface="Liberation Sans Narrow"/>
                <a:ea typeface="Liberation Sans Narrow"/>
              </a:rPr>
              <a:t>02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1356840" y="2214720"/>
            <a:ext cx="6166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5400" b="0" u="none" spc="-215" strike="noStrike">
                <a:solidFill>
                  <a:srgbClr val="FF6B4A"/>
                </a:solidFill>
                <a:effectLst/>
                <a:uFillTx/>
                <a:latin typeface="Calibri"/>
                <a:ea typeface="Calibri"/>
              </a:rPr>
              <a:t>/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1813680" y="2214720"/>
            <a:ext cx="1540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5400" b="1" u="none" spc="-215" strike="noStrike">
                <a:solidFill>
                  <a:srgbClr val="FFB199">
                    <a:alpha val="55000"/>
                  </a:srgbClr>
                </a:solidFill>
                <a:effectLst/>
                <a:uFillTx/>
                <a:latin typeface="Liberation Sans Narrow"/>
                <a:ea typeface="Liberation Sans Narrow"/>
              </a:rPr>
              <a:t>04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14440" y="3114720"/>
            <a:ext cx="456840" cy="28080"/>
          </a:xfrm>
          <a:prstGeom prst="roundRect">
            <a:avLst>
              <a:gd name="adj" fmla="val 66667"/>
            </a:avLst>
          </a:prstGeom>
          <a:solidFill>
            <a:srgbClr val="FF6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3641040" y="2000160"/>
            <a:ext cx="527436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158"/>
              </a:lnSpc>
              <a:tabLst>
                <a:tab pos="0" algn="l"/>
              </a:tabLst>
            </a:pPr>
            <a:r>
              <a:rPr lang="en-US" sz="2930" b="1" u="none" spc="-57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Merancang aktivitas gamifikasi yang sejalan dengan Pendidikan.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8001000" y="-571680"/>
            <a:ext cx="1571400" cy="1571400"/>
          </a:xfrm>
          <a:prstGeom prst="ellipse">
            <a:avLst/>
          </a:prstGeom>
          <a:solidFill>
            <a:srgbClr val="FFE5DC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-357120" y="3571920"/>
            <a:ext cx="1142640" cy="1142640"/>
          </a:xfrm>
          <a:prstGeom prst="ellipse">
            <a:avLst/>
          </a:prstGeom>
          <a:solidFill>
            <a:srgbClr val="D4ECF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491400" y="387360"/>
            <a:ext cx="121140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729720" y="450000"/>
            <a:ext cx="8780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73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PROSES DESAIN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⚙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514440" y="696600"/>
            <a:ext cx="81522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920" b="1" u="none" spc="-2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Enam langkah dari capaian pembelajaran ke prototipe gamifikasi.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8189280" y="498960"/>
            <a:ext cx="43992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914400">
              <a:lnSpc>
                <a:spcPts val="36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D4ECF0"/>
                </a:solidFill>
                <a:effectLst/>
                <a:uFillTx/>
                <a:latin typeface="Liberation Sans Narrow"/>
                <a:ea typeface="Liberation Sans Narrow"/>
              </a:rPr>
              <a:t>6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601760" y="948960"/>
            <a:ext cx="1027440" cy="1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914400">
              <a:lnSpc>
                <a:spcPts val="1012"/>
              </a:lnSpc>
              <a:tabLst>
                <a:tab pos="0" algn="l"/>
              </a:tabLst>
            </a:pPr>
            <a:r>
              <a:rPr lang="en-US" sz="1010" b="1" u="none" spc="181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LANGKAH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514440" y="1355040"/>
            <a:ext cx="45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74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START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855360" y="1410480"/>
            <a:ext cx="3495600" cy="6840"/>
          </a:xfrm>
          <a:prstGeom prst="rect">
            <a:avLst/>
          </a:prstGeom>
          <a:solidFill>
            <a:srgbClr val="DCE6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408560" y="136404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→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4565520" y="1410480"/>
            <a:ext cx="3495960" cy="6840"/>
          </a:xfrm>
          <a:prstGeom prst="rect">
            <a:avLst/>
          </a:prstGeom>
          <a:solidFill>
            <a:srgbClr val="DCE6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8117280" y="1355040"/>
            <a:ext cx="70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74" strike="noStrike">
                <a:solidFill>
                  <a:srgbClr val="FF6B4A"/>
                </a:solidFill>
                <a:effectLst/>
                <a:uFillTx/>
                <a:latin typeface="Calibri"/>
                <a:ea typeface="Calibri"/>
              </a:rPr>
              <a:t>PROTOTIPE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518040" y="1548000"/>
            <a:ext cx="2640240" cy="1413720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664200" y="1680120"/>
            <a:ext cx="242640" cy="242640"/>
          </a:xfrm>
          <a:prstGeom prst="ellipse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664200" y="168012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267"/>
              </a:lnSpc>
              <a:tabLst>
                <a:tab pos="0" algn="l"/>
              </a:tabLst>
            </a:pPr>
            <a:r>
              <a:rPr lang="en-US" sz="839" b="1" u="none" spc="17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992880" y="1722960"/>
            <a:ext cx="15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▣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664200" y="1994400"/>
            <a:ext cx="24573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et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ai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el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aj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ar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664200" y="2217600"/>
            <a:ext cx="234756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Identifikasi elemen TP Informatika SMP (mis. Fase D — algoritma &amp; pemrograman visual) yang akan di-gamifikasi. Pilih satu fokus agar terukur.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3251520" y="1548000"/>
            <a:ext cx="2640600" cy="1413720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3398040" y="1680120"/>
            <a:ext cx="242640" cy="242640"/>
          </a:xfrm>
          <a:prstGeom prst="ellipse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3398040" y="168012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267"/>
              </a:lnSpc>
              <a:tabLst>
                <a:tab pos="0" algn="l"/>
              </a:tabLst>
            </a:pPr>
            <a:r>
              <a:rPr lang="en-US" sz="839" b="1" u="none" spc="17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3726720" y="1722960"/>
            <a:ext cx="15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♥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3398040" y="1994400"/>
            <a:ext cx="2347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Tentuk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an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Estetik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Tujuan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3398040" y="2217600"/>
            <a:ext cx="23475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Apa pengalaman yang ingin siswa rasakan: penasaran? bangga? kolaboratif? Estetika ini menentukan pilihan mekanika.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5"/>
          <p:cNvSpPr/>
          <p:nvPr/>
        </p:nvSpPr>
        <p:spPr>
          <a:xfrm>
            <a:off x="5985360" y="1548000"/>
            <a:ext cx="2640240" cy="1413720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6131520" y="1680120"/>
            <a:ext cx="242640" cy="242640"/>
          </a:xfrm>
          <a:prstGeom prst="ellipse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6131520" y="168012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267"/>
              </a:lnSpc>
              <a:tabLst>
                <a:tab pos="0" algn="l"/>
              </a:tabLst>
            </a:pPr>
            <a:r>
              <a:rPr lang="en-US" sz="839" b="1" u="none" spc="17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03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6460200" y="1722960"/>
            <a:ext cx="15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▤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9"/>
          <p:cNvSpPr/>
          <p:nvPr/>
        </p:nvSpPr>
        <p:spPr>
          <a:xfrm>
            <a:off x="6131520" y="1994400"/>
            <a:ext cx="2347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Pili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h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Nar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asi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&amp;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Te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6131520" y="2217600"/>
            <a:ext cx="234756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Sampul kontekstual — mis. “Penjaga Hutan Digital” untuk loop pengulangan, “Detektif Cipher” untuk kondisional. Tema harus dekat dengan keseharian siswa.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518040" y="3054960"/>
            <a:ext cx="2640240" cy="1413720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32"/>
          <p:cNvSpPr/>
          <p:nvPr/>
        </p:nvSpPr>
        <p:spPr>
          <a:xfrm>
            <a:off x="664200" y="3187080"/>
            <a:ext cx="242640" cy="242640"/>
          </a:xfrm>
          <a:prstGeom prst="ellipse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 33"/>
          <p:cNvSpPr/>
          <p:nvPr/>
        </p:nvSpPr>
        <p:spPr>
          <a:xfrm>
            <a:off x="664200" y="318708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267"/>
              </a:lnSpc>
              <a:tabLst>
                <a:tab pos="0" algn="l"/>
              </a:tabLst>
            </a:pPr>
            <a:r>
              <a:rPr lang="en-US" sz="839" b="1" u="none" spc="17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04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992880" y="3229920"/>
            <a:ext cx="15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5"/>
          <p:cNvSpPr/>
          <p:nvPr/>
        </p:nvSpPr>
        <p:spPr>
          <a:xfrm>
            <a:off x="664200" y="3501360"/>
            <a:ext cx="2347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Desain Mekanika Inti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6"/>
          <p:cNvSpPr/>
          <p:nvPr/>
        </p:nvSpPr>
        <p:spPr>
          <a:xfrm>
            <a:off x="664200" y="3724560"/>
            <a:ext cx="23475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Pilih 2–3 mekanika (poin, level, lencana, misi bertingkat). Hindari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overload — terlalu banyak mekanika menurunkan fokus belajar.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7"/>
          <p:cNvSpPr/>
          <p:nvPr/>
        </p:nvSpPr>
        <p:spPr>
          <a:xfrm>
            <a:off x="3251520" y="3054960"/>
            <a:ext cx="2640600" cy="1413720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 38"/>
          <p:cNvSpPr/>
          <p:nvPr/>
        </p:nvSpPr>
        <p:spPr>
          <a:xfrm>
            <a:off x="3398040" y="3187080"/>
            <a:ext cx="242640" cy="242640"/>
          </a:xfrm>
          <a:prstGeom prst="ellipse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39"/>
          <p:cNvSpPr/>
          <p:nvPr/>
        </p:nvSpPr>
        <p:spPr>
          <a:xfrm>
            <a:off x="3398040" y="318708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267"/>
              </a:lnSpc>
              <a:tabLst>
                <a:tab pos="0" algn="l"/>
              </a:tabLst>
            </a:pPr>
            <a:r>
              <a:rPr lang="en-US" sz="839" b="1" u="none" spc="17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05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0"/>
          <p:cNvSpPr/>
          <p:nvPr/>
        </p:nvSpPr>
        <p:spPr>
          <a:xfrm>
            <a:off x="3726720" y="3229920"/>
            <a:ext cx="15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1"/>
          <p:cNvSpPr/>
          <p:nvPr/>
        </p:nvSpPr>
        <p:spPr>
          <a:xfrm>
            <a:off x="3398040" y="3501360"/>
            <a:ext cx="2347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Bangun 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Umpan </a:t>
            </a: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Balik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42"/>
          <p:cNvSpPr/>
          <p:nvPr/>
        </p:nvSpPr>
        <p:spPr>
          <a:xfrm>
            <a:off x="3398040" y="3724560"/>
            <a:ext cx="234756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Pastikan setiap aksi siswa mendapat respons dalam &lt;30 detik.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3"/>
          <p:cNvSpPr/>
          <p:nvPr/>
        </p:nvSpPr>
        <p:spPr>
          <a:xfrm>
            <a:off x="5985360" y="3054960"/>
            <a:ext cx="2640240" cy="1413720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44"/>
          <p:cNvSpPr/>
          <p:nvPr/>
        </p:nvSpPr>
        <p:spPr>
          <a:xfrm>
            <a:off x="6131520" y="3187080"/>
            <a:ext cx="242640" cy="242640"/>
          </a:xfrm>
          <a:prstGeom prst="ellipse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 45"/>
          <p:cNvSpPr/>
          <p:nvPr/>
        </p:nvSpPr>
        <p:spPr>
          <a:xfrm>
            <a:off x="6131520" y="318708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1267"/>
              </a:lnSpc>
              <a:tabLst>
                <a:tab pos="0" algn="l"/>
              </a:tabLst>
            </a:pPr>
            <a:r>
              <a:rPr lang="en-US" sz="839" b="1" u="none" spc="17" strike="noStrike">
                <a:solidFill>
                  <a:srgbClr val="FFFFFF"/>
                </a:solidFill>
                <a:effectLst/>
                <a:uFillTx/>
                <a:latin typeface="Liberation Sans Narrow"/>
                <a:ea typeface="Liberation Sans Narrow"/>
              </a:rPr>
              <a:t>06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6"/>
          <p:cNvSpPr/>
          <p:nvPr/>
        </p:nvSpPr>
        <p:spPr>
          <a:xfrm>
            <a:off x="6460200" y="3229920"/>
            <a:ext cx="15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⚗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7"/>
          <p:cNvSpPr/>
          <p:nvPr/>
        </p:nvSpPr>
        <p:spPr>
          <a:xfrm>
            <a:off x="6131520" y="3501360"/>
            <a:ext cx="2347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96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Uji &amp; Iterasi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8"/>
          <p:cNvSpPr/>
          <p:nvPr/>
        </p:nvSpPr>
        <p:spPr>
          <a:xfrm>
            <a:off x="6131520" y="3724560"/>
            <a:ext cx="234756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76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Jalankan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gamifikasi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15 menit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dengan 4-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6 siswa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per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kelompok.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Amati: di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mana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mereka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bingung?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di mana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mereka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berhenti?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Iterasi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sebelum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implemen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tasi 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penuh.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9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9 · PROSES DESAIN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0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8001000" y="-642960"/>
            <a:ext cx="1714320" cy="1714320"/>
          </a:xfrm>
          <a:prstGeom prst="ellipse">
            <a:avLst/>
          </a:prstGeom>
          <a:solidFill>
            <a:srgbClr val="FFE5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58" name="Image 0" descr="/tmp/h2p-fit-1788759157552-skjdoi.png"/>
          <p:cNvPicPr/>
          <p:nvPr/>
        </p:nvPicPr>
        <p:blipFill>
          <a:blip r:embed="rId1"/>
          <a:stretch/>
        </p:blipFill>
        <p:spPr>
          <a:xfrm>
            <a:off x="514440" y="399960"/>
            <a:ext cx="4321440" cy="4000320"/>
          </a:xfrm>
          <a:prstGeom prst="rect">
            <a:avLst/>
          </a:prstGeom>
          <a:noFill/>
          <a:ln w="0">
            <a:noFill/>
          </a:ln>
          <a:effectLst>
            <a:outerShdw algn="bl" blurRad="304920" dir="5400000" dist="114480" kx="0" ky="0" rotWithShape="0" sx="100000" sy="100000">
              <a:srgbClr val="0F2233">
                <a:alpha val="18000"/>
              </a:srgbClr>
            </a:outerShdw>
          </a:effectLst>
        </p:spPr>
      </p:pic>
      <p:sp>
        <p:nvSpPr>
          <p:cNvPr id="259" name="Text 1"/>
          <p:cNvSpPr/>
          <p:nvPr/>
        </p:nvSpPr>
        <p:spPr>
          <a:xfrm>
            <a:off x="657360" y="3840480"/>
            <a:ext cx="2789640" cy="759600"/>
          </a:xfrm>
          <a:prstGeom prst="roundRect">
            <a:avLst>
              <a:gd name="adj" fmla="val 15039"/>
            </a:avLst>
          </a:prstGeom>
          <a:solidFill>
            <a:srgbClr val="FFFFFF">
              <a:alpha val="94000"/>
            </a:srgbClr>
          </a:solidFill>
          <a:ln w="0">
            <a:noFill/>
          </a:ln>
          <a:effectLst>
            <a:outerShdw algn="bl" blurRad="171360" dir="5400000" dist="57240" kx="0" ky="0" rotWithShape="0" sx="100000" sy="100000">
              <a:srgbClr val="0F2233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762840" y="3936240"/>
            <a:ext cx="915120" cy="211680"/>
          </a:xfrm>
          <a:prstGeom prst="roundRect">
            <a:avLst>
              <a:gd name="adj" fmla="val 4487860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785880" y="3947760"/>
            <a:ext cx="8694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74" strike="noStrike">
                <a:solidFill>
                  <a:srgbClr val="C0462C"/>
                </a:solidFill>
                <a:effectLst/>
                <a:uFillTx/>
                <a:latin typeface="Calibri"/>
                <a:ea typeface="Calibri"/>
              </a:rPr>
              <a:t>STUDI KASUS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785880" y="4179960"/>
            <a:ext cx="25326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 lnSpcReduction="9999"/>
          </a:bodyPr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Algoritma Petualang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785880" y="4382640"/>
            <a:ext cx="26424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620" b="0" u="none" spc="26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KELAS 8 SMP · 16 SESI @40 MENIT · SCRATCH + KARTU MISI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5070600" y="387360"/>
            <a:ext cx="139500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5322240" y="450000"/>
            <a:ext cx="1034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73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CONTOH AKTIVITAS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51793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5093640" y="710640"/>
            <a:ext cx="35359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580" b="1" u="none" spc="-17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Membuka konsep algoritma lewat misi bertingkat.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5093640" y="1290960"/>
            <a:ext cx="35359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34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Profil:</a:t>
            </a: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 kelas 8 SMP, 16 sesi @40 menit, menggunakan Scratch + kartu misi fisik.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5097240" y="1682280"/>
            <a:ext cx="3528720" cy="1548000"/>
          </a:xfrm>
          <a:prstGeom prst="roundRect">
            <a:avLst>
              <a:gd name="adj" fmla="val 9842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  <a:effectLst>
            <a:outerShdw algn="bl" blurRad="19080" dir="5400000" dist="9360" kx="0" ky="0" rotWithShape="0" sx="100000" sy="100000">
              <a:srgbClr val="0F2233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Shape 12"/>
          <p:cNvSpPr/>
          <p:nvPr/>
        </p:nvSpPr>
        <p:spPr>
          <a:xfrm>
            <a:off x="5214600" y="2164320"/>
            <a:ext cx="3293280" cy="360"/>
          </a:xfrm>
          <a:prstGeom prst="line">
            <a:avLst/>
          </a:prstGeom>
          <a:ln w="7144">
            <a:solidFill>
              <a:srgbClr val="DCE6E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5214960" y="1800000"/>
            <a:ext cx="228240" cy="228240"/>
          </a:xfrm>
          <a:prstGeom prst="roundRect">
            <a:avLst>
              <a:gd name="adj" fmla="val 33333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5235840" y="182124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5529240" y="1800000"/>
            <a:ext cx="29786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4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Capaian: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 Siswa Mampu memahami dasar dasar pengetahuan informatika, terkait Berfikir Komputasi dan Jaringan Internet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6"/>
          <p:cNvSpPr/>
          <p:nvPr/>
        </p:nvSpPr>
        <p:spPr>
          <a:xfrm>
            <a:off x="5214600" y="2748240"/>
            <a:ext cx="3293280" cy="360"/>
          </a:xfrm>
          <a:prstGeom prst="line">
            <a:avLst/>
          </a:prstGeom>
          <a:ln w="7144">
            <a:solidFill>
              <a:srgbClr val="DCE6E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5214960" y="2239200"/>
            <a:ext cx="228240" cy="228240"/>
          </a:xfrm>
          <a:prstGeom prst="roundRect">
            <a:avLst>
              <a:gd name="adj" fmla="val 33333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5235840" y="226044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▤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5529240" y="2239200"/>
            <a:ext cx="297864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4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Narasi: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 siswa adalah penjaga  digital yang harus mempertahankan base yang diserbu oleh sekelompok zombie, dengan memecahkan soal pengetahuan informatika yang akan mempertahankan benteng dari serangan zombie.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5214960" y="2823480"/>
            <a:ext cx="228240" cy="228240"/>
          </a:xfrm>
          <a:prstGeom prst="roundRect">
            <a:avLst>
              <a:gd name="adj" fmla="val 33333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21"/>
          <p:cNvSpPr/>
          <p:nvPr/>
        </p:nvSpPr>
        <p:spPr>
          <a:xfrm>
            <a:off x="5235840" y="284436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▦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2"/>
          <p:cNvSpPr/>
          <p:nvPr/>
        </p:nvSpPr>
        <p:spPr>
          <a:xfrm>
            <a:off x="5529240" y="2823480"/>
            <a:ext cx="2978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4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Mekanika: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 5 level bertingkat, lencana “peringkat” di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akhir, papan misi tim (bukan individu).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3"/>
          <p:cNvSpPr/>
          <p:nvPr/>
        </p:nvSpPr>
        <p:spPr>
          <a:xfrm>
            <a:off x="5093640" y="3333960"/>
            <a:ext cx="3535920" cy="780840"/>
          </a:xfrm>
          <a:prstGeom prst="roundRect">
            <a:avLst>
              <a:gd name="adj" fmla="val 16909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5207760" y="357192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7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◆</a:t>
            </a:r>
            <a:endParaRPr lang="en-US" sz="1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5493600" y="3434040"/>
            <a:ext cx="302148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 fontScale="85000" lnSpcReduction="19999"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62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HASIL PILOT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5493600" y="3566160"/>
            <a:ext cx="30214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53"/>
              </a:lnSpc>
              <a:tabLst>
                <a:tab pos="0" algn="l"/>
              </a:tabLst>
            </a:pPr>
            <a:r>
              <a:rPr lang="en-US" sz="1490" b="1" u="none" strike="noStrike">
                <a:solidFill>
                  <a:srgbClr val="0E5C6B"/>
                </a:solidFill>
                <a:effectLst/>
                <a:uFillTx/>
                <a:latin typeface="Liberation Sans Narrow"/>
                <a:ea typeface="Liberation Sans Narrow"/>
              </a:rPr>
              <a:t>92</a:t>
            </a:r>
            <a:r>
              <a:rPr lang="en-US" sz="1490" b="1" u="none" strike="noStrike">
                <a:solidFill>
                  <a:srgbClr val="0E5C6B"/>
                </a:solidFill>
                <a:effectLst/>
                <a:uFillTx/>
                <a:latin typeface="Liberation Sans Narrow"/>
                <a:ea typeface="Liberation Sans Narrow"/>
              </a:rPr>
              <a:t>%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siswa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menye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lesaik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an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perma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inan, </a:t>
            </a:r>
            <a:r>
              <a:rPr lang="en-US" sz="1490" b="1" u="none" strike="noStrike">
                <a:solidFill>
                  <a:srgbClr val="0E5C6B"/>
                </a:solidFill>
                <a:effectLst/>
                <a:uFillTx/>
                <a:latin typeface="Liberation Sans Narrow"/>
                <a:ea typeface="Liberation Sans Narrow"/>
              </a:rPr>
              <a:t>71</a:t>
            </a:r>
            <a:r>
              <a:rPr lang="en-US" sz="1490" b="1" u="none" strike="noStrike">
                <a:solidFill>
                  <a:srgbClr val="0E5C6B"/>
                </a:solidFill>
                <a:effectLst/>
                <a:uFillTx/>
                <a:latin typeface="Liberation Sans Narrow"/>
                <a:ea typeface="Liberation Sans Narrow"/>
              </a:rPr>
              <a:t>%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siswa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menco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ba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mengi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ngat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materi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dasar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yang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diajark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an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guru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(buka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n asal </a:t>
            </a:r>
            <a:r>
              <a:rPr lang="en-US" sz="760" b="0" u="none" strike="noStrike">
                <a:solidFill>
                  <a:srgbClr val="0F2233"/>
                </a:solidFill>
                <a:effectLst/>
                <a:uFillTx/>
                <a:latin typeface="Liberation Sans Narrow"/>
                <a:ea typeface="Liberation Sans Narrow"/>
              </a:rPr>
              <a:t>jawab)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01 · STUDI KASUS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8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</a:t>
            </a: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8143920" y="-500040"/>
            <a:ext cx="1428480" cy="1428480"/>
          </a:xfrm>
          <a:prstGeom prst="ellipse">
            <a:avLst/>
          </a:prstGeom>
          <a:solidFill>
            <a:srgbClr val="FFE5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8" name="Image 0" descr="preencoded.png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214200" y="4143240"/>
            <a:ext cx="85680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1"/>
          <p:cNvSpPr/>
          <p:nvPr/>
        </p:nvSpPr>
        <p:spPr>
          <a:xfrm>
            <a:off x="214200" y="4143240"/>
            <a:ext cx="856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491400" y="387360"/>
            <a:ext cx="1031040" cy="235800"/>
          </a:xfrm>
          <a:prstGeom prst="roundRect">
            <a:avLst>
              <a:gd name="adj" fmla="val 4031468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722520" y="450000"/>
            <a:ext cx="7117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730" b="0" u="none" spc="6" strike="noStrike">
                <a:solidFill>
                  <a:srgbClr val="C0462C"/>
                </a:solidFill>
                <a:effectLst/>
                <a:uFillTx/>
                <a:latin typeface="Calibri"/>
                <a:ea typeface="Calibri"/>
              </a:rPr>
              <a:t>PERINGATAN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⚠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514440" y="682200"/>
            <a:ext cx="862920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69"/>
              </a:lnSpc>
              <a:tabLst>
                <a:tab pos="0" algn="l"/>
              </a:tabLst>
            </a:pPr>
            <a:r>
              <a:rPr lang="en-US" sz="1800" b="1" u="none" spc="-17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Empat jebakan yang sering membuat gamifikasi gagal.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514440" y="987840"/>
            <a:ext cx="8115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82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Diidentifikasi dari studi implementasi di sekolah Indonesia &amp; internasional.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685800" y="1230840"/>
            <a:ext cx="71964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88" strike="noStrike">
                <a:solidFill>
                  <a:srgbClr val="C0462C"/>
                </a:solidFill>
                <a:effectLst/>
                <a:uFillTx/>
                <a:latin typeface="Calibri"/>
                <a:ea typeface="Calibri"/>
              </a:rPr>
              <a:t>JEBAKAN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514440" y="1225440"/>
            <a:ext cx="1141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⊗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4793400" y="1230840"/>
            <a:ext cx="5940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88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SOLUSI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4622040" y="1225440"/>
            <a:ext cx="1141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✓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514440" y="139860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628560" y="148428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⚠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971640" y="1484280"/>
            <a:ext cx="34358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8E3422"/>
                </a:solidFill>
                <a:effectLst/>
                <a:uFillTx/>
                <a:latin typeface="Calibri"/>
                <a:ea typeface="Calibri"/>
              </a:rPr>
              <a:t>Over-gamifikasi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971640" y="1638720"/>
            <a:ext cx="3435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Terlalu banyak poin, lencana, level — siswa kelelahan dan fokus bergeser dari belajar ke mengumpulkan reward.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4622040" y="139860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 16"/>
          <p:cNvSpPr/>
          <p:nvPr/>
        </p:nvSpPr>
        <p:spPr>
          <a:xfrm>
            <a:off x="4736160" y="148428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✓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7"/>
          <p:cNvSpPr/>
          <p:nvPr/>
        </p:nvSpPr>
        <p:spPr>
          <a:xfrm>
            <a:off x="5079240" y="1484280"/>
            <a:ext cx="25444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Batasi 2–3 mekanika inti per aktivitas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8"/>
          <p:cNvSpPr/>
          <p:nvPr/>
        </p:nvSpPr>
        <p:spPr>
          <a:xfrm>
            <a:off x="5079240" y="1638720"/>
            <a:ext cx="23562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Setiap mekanika harus melayani satu tujuan belajar.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514440" y="205488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 20"/>
          <p:cNvSpPr/>
          <p:nvPr/>
        </p:nvSpPr>
        <p:spPr>
          <a:xfrm>
            <a:off x="628560" y="214056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⚠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1"/>
          <p:cNvSpPr/>
          <p:nvPr/>
        </p:nvSpPr>
        <p:spPr>
          <a:xfrm>
            <a:off x="971640" y="2140560"/>
            <a:ext cx="34358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8E3422"/>
                </a:solidFill>
                <a:effectLst/>
                <a:uFillTx/>
                <a:latin typeface="Calibri"/>
                <a:ea typeface="Calibri"/>
              </a:rPr>
              <a:t>Kompetisi </a:t>
            </a:r>
            <a:r>
              <a:rPr lang="en-US" sz="870" b="1" u="none" strike="noStrike">
                <a:solidFill>
                  <a:srgbClr val="8E3422"/>
                </a:solidFill>
                <a:effectLst/>
                <a:uFillTx/>
                <a:latin typeface="Calibri"/>
                <a:ea typeface="Calibri"/>
              </a:rPr>
              <a:t>toxic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2"/>
          <p:cNvSpPr/>
          <p:nvPr/>
        </p:nvSpPr>
        <p:spPr>
          <a:xfrm>
            <a:off x="971640" y="2294640"/>
            <a:ext cx="3435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Papan peringkat individu publik membuat siswa di bawah malu &amp; semakin menarik diri.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3"/>
          <p:cNvSpPr/>
          <p:nvPr/>
        </p:nvSpPr>
        <p:spPr>
          <a:xfrm>
            <a:off x="4622040" y="205488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 24"/>
          <p:cNvSpPr/>
          <p:nvPr/>
        </p:nvSpPr>
        <p:spPr>
          <a:xfrm>
            <a:off x="4736160" y="214056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✓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5"/>
          <p:cNvSpPr/>
          <p:nvPr/>
        </p:nvSpPr>
        <p:spPr>
          <a:xfrm>
            <a:off x="5079240" y="2140560"/>
            <a:ext cx="3545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Gunakan papan peringkat tim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6"/>
          <p:cNvSpPr/>
          <p:nvPr/>
        </p:nvSpPr>
        <p:spPr>
          <a:xfrm>
            <a:off x="5079240" y="2294640"/>
            <a:ext cx="3435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Atau tampilkan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hanya “tim yang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bermain” +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“pencapaian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pribadi” tanpa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ranking penuh.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7"/>
          <p:cNvSpPr/>
          <p:nvPr/>
        </p:nvSpPr>
        <p:spPr>
          <a:xfrm>
            <a:off x="514440" y="271080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 28"/>
          <p:cNvSpPr/>
          <p:nvPr/>
        </p:nvSpPr>
        <p:spPr>
          <a:xfrm>
            <a:off x="628560" y="279684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⚠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9"/>
          <p:cNvSpPr/>
          <p:nvPr/>
        </p:nvSpPr>
        <p:spPr>
          <a:xfrm>
            <a:off x="971640" y="2796840"/>
            <a:ext cx="3545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8E3422"/>
                </a:solidFill>
                <a:effectLst/>
                <a:uFillTx/>
                <a:latin typeface="Calibri"/>
                <a:ea typeface="Calibri"/>
              </a:rPr>
              <a:t>Reward menggantikan intrinsik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0"/>
          <p:cNvSpPr/>
          <p:nvPr/>
        </p:nvSpPr>
        <p:spPr>
          <a:xfrm>
            <a:off x="971640" y="2950920"/>
            <a:ext cx="3435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Memberi poin untuk perilaku yang seharusnya menyenangkan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(eksplorasi) justru menurunkan motivasi intrinsik (efek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overjustification).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1"/>
          <p:cNvSpPr/>
          <p:nvPr/>
        </p:nvSpPr>
        <p:spPr>
          <a:xfrm>
            <a:off x="4622040" y="271080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 32"/>
          <p:cNvSpPr/>
          <p:nvPr/>
        </p:nvSpPr>
        <p:spPr>
          <a:xfrm>
            <a:off x="4736160" y="279684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✓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3"/>
          <p:cNvSpPr/>
          <p:nvPr/>
        </p:nvSpPr>
        <p:spPr>
          <a:xfrm>
            <a:off x="5079240" y="2796840"/>
            <a:ext cx="27982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Pilih reward untuk perilaku berulang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4"/>
          <p:cNvSpPr/>
          <p:nvPr/>
        </p:nvSpPr>
        <p:spPr>
          <a:xfrm>
            <a:off x="5079240" y="2950920"/>
            <a:ext cx="259092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Latihan, bukan untuk perilaku kreatif (eksplorasi, diskusi).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5"/>
          <p:cNvSpPr/>
          <p:nvPr/>
        </p:nvSpPr>
        <p:spPr>
          <a:xfrm>
            <a:off x="514440" y="336708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FFE5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36"/>
          <p:cNvSpPr/>
          <p:nvPr/>
        </p:nvSpPr>
        <p:spPr>
          <a:xfrm>
            <a:off x="628560" y="345276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C0462C"/>
                </a:solidFill>
                <a:effectLst/>
                <a:uFillTx/>
                <a:latin typeface="Segoe UI Symbol"/>
                <a:ea typeface="Segoe UI Symbol"/>
              </a:rPr>
              <a:t>⚠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7"/>
          <p:cNvSpPr/>
          <p:nvPr/>
        </p:nvSpPr>
        <p:spPr>
          <a:xfrm>
            <a:off x="971640" y="3452760"/>
            <a:ext cx="3545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8E3422"/>
                </a:solidFill>
                <a:effectLst/>
                <a:uFillTx/>
                <a:latin typeface="Calibri"/>
                <a:ea typeface="Calibri"/>
              </a:rPr>
              <a:t>Tidak terhubung ke capaian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8"/>
          <p:cNvSpPr/>
          <p:nvPr/>
        </p:nvSpPr>
        <p:spPr>
          <a:xfrm>
            <a:off x="971640" y="3607200"/>
            <a:ext cx="3435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Gamifikasi tampak seru tetapi tidak mengukur kemajuan terhadap TP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Informatika.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9"/>
          <p:cNvSpPr/>
          <p:nvPr/>
        </p:nvSpPr>
        <p:spPr>
          <a:xfrm>
            <a:off x="4622040" y="3367080"/>
            <a:ext cx="4007160" cy="584280"/>
          </a:xfrm>
          <a:prstGeom prst="roundRect">
            <a:avLst>
              <a:gd name="adj" fmla="val 2280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40"/>
          <p:cNvSpPr/>
          <p:nvPr/>
        </p:nvSpPr>
        <p:spPr>
          <a:xfrm>
            <a:off x="4736160" y="3452760"/>
            <a:ext cx="256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✓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1"/>
          <p:cNvSpPr/>
          <p:nvPr/>
        </p:nvSpPr>
        <p:spPr>
          <a:xfrm>
            <a:off x="5079240" y="3452760"/>
            <a:ext cx="24238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ts val="1046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Setiap level/misi wajib punya rubrik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2"/>
          <p:cNvSpPr/>
          <p:nvPr/>
        </p:nvSpPr>
        <p:spPr>
          <a:xfrm>
            <a:off x="5079240" y="3607200"/>
            <a:ext cx="24238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2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Rubrik memetakan ke TP — bukan hanya poin.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3"/>
          <p:cNvSpPr/>
          <p:nvPr/>
        </p:nvSpPr>
        <p:spPr>
          <a:xfrm>
            <a:off x="514440" y="4854240"/>
            <a:ext cx="795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11 · </a:t>
            </a:r>
            <a:r>
              <a:rPr lang="en-US" sz="80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JEBAKAN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4"/>
          <p:cNvSpPr/>
          <p:nvPr/>
        </p:nvSpPr>
        <p:spPr>
          <a:xfrm>
            <a:off x="8470440" y="4854240"/>
            <a:ext cx="25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800" b="1" u="none" spc="2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0" y="0"/>
            <a:ext cx="5486040" cy="514332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-428760" y="-428760"/>
            <a:ext cx="1285560" cy="1285560"/>
          </a:xfrm>
          <a:prstGeom prst="ellipse">
            <a:avLst/>
          </a:prstGeom>
          <a:solidFill>
            <a:srgbClr val="FFE5DC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5" name="Image 0" descr="preencoded.png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4629240" y="214200"/>
            <a:ext cx="64260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2"/>
          <p:cNvSpPr/>
          <p:nvPr/>
        </p:nvSpPr>
        <p:spPr>
          <a:xfrm>
            <a:off x="4629240" y="214200"/>
            <a:ext cx="6426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514440" y="725040"/>
            <a:ext cx="4614480" cy="78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846"/>
              </a:lnSpc>
              <a:tabLst>
                <a:tab pos="0" algn="l"/>
              </a:tabLst>
            </a:pPr>
            <a:r>
              <a:rPr lang="en-US" sz="2590" b="1" u="none" spc="-4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Gamifikasi adalah</a:t>
            </a:r>
            <a:endParaRPr lang="en-US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46"/>
              </a:lnSpc>
              <a:tabLst>
                <a:tab pos="0" algn="l"/>
              </a:tabLst>
            </a:pPr>
            <a:r>
              <a:rPr lang="en-US" sz="2590" b="1" u="none" spc="-4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jembatan, bukan tujuan.</a:t>
            </a:r>
            <a:endParaRPr lang="en-US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514440" y="1562400"/>
            <a:ext cx="461448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Saat dirancang dari capaian pembelajaran dan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kebutuhan psikologis siswa, gamifikasi membuat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konsep Informatika yang abstrak terasa hidup — 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dan membuat guru dapat melihat siapa benar-</a:t>
            </a:r>
            <a:r>
              <a:rPr lang="en-US" sz="900" b="0" u="none" strike="noStrike">
                <a:solidFill>
                  <a:srgbClr val="3E5468"/>
                </a:solidFill>
                <a:effectLst/>
                <a:uFillTx/>
                <a:latin typeface="Calibri"/>
                <a:ea typeface="Calibri"/>
              </a:rPr>
              <a:t>benar belajar.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518040" y="2228760"/>
            <a:ext cx="4607280" cy="1549800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 w="7144">
            <a:solidFill>
              <a:srgbClr val="DC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664200" y="2360880"/>
            <a:ext cx="431460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1" u="none" spc="60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→</a:t>
            </a:r>
            <a:r>
              <a:rPr lang="en-US" sz="800" b="1" u="none" spc="60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 LANGKAH BERIKUT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7"/>
          <p:cNvSpPr/>
          <p:nvPr/>
        </p:nvSpPr>
        <p:spPr>
          <a:xfrm>
            <a:off x="664200" y="2585880"/>
            <a:ext cx="256680" cy="256680"/>
          </a:xfrm>
          <a:prstGeom prst="roundRect">
            <a:avLst>
              <a:gd name="adj" fmla="val 37037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689400" y="2610720"/>
            <a:ext cx="2066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1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✎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1007280" y="2585880"/>
            <a:ext cx="39715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2840" rIns="0" bIns="0" anchor="t">
            <a:noAutofit/>
          </a:bodyPr>
          <a:p>
            <a:pPr defTabSz="914400">
              <a:lnSpc>
                <a:spcPts val="114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Pilih satu TP Informatika SMP yang akan Anda gamifikasi minggu depan.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0"/>
          <p:cNvSpPr/>
          <p:nvPr/>
        </p:nvSpPr>
        <p:spPr>
          <a:xfrm>
            <a:off x="664200" y="2928600"/>
            <a:ext cx="256680" cy="256680"/>
          </a:xfrm>
          <a:prstGeom prst="roundRect">
            <a:avLst>
              <a:gd name="adj" fmla="val 37037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689400" y="2953800"/>
            <a:ext cx="2066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1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♟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2"/>
          <p:cNvSpPr/>
          <p:nvPr/>
        </p:nvSpPr>
        <p:spPr>
          <a:xfrm>
            <a:off x="1007280" y="2928600"/>
            <a:ext cx="39715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2840" rIns="0" bIns="0" anchor="t">
            <a:noAutofit/>
          </a:bodyPr>
          <a:p>
            <a:pPr defTabSz="914400">
              <a:lnSpc>
                <a:spcPts val="114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Disku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sikan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ranca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ngan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deng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an 1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rekan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guru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atau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peng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emba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ng 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konte</a:t>
            </a: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n IFP.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3"/>
          <p:cNvSpPr/>
          <p:nvPr/>
        </p:nvSpPr>
        <p:spPr>
          <a:xfrm>
            <a:off x="664200" y="3271680"/>
            <a:ext cx="256680" cy="256680"/>
          </a:xfrm>
          <a:prstGeom prst="roundRect">
            <a:avLst>
              <a:gd name="adj" fmla="val 37037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689400" y="3296520"/>
            <a:ext cx="2066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1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⚗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1007280" y="3271680"/>
            <a:ext cx="39715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2840" rIns="0" bIns="0" anchor="t">
            <a:noAutofit/>
          </a:bodyPr>
          <a:p>
            <a:pPr defTabSz="914400">
              <a:lnSpc>
                <a:spcPts val="114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Lakukan mini-pilot 15 menit dengan 3–5 siswa, catat 3 hal yang membuat mereka bingung.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6"/>
          <p:cNvSpPr/>
          <p:nvPr/>
        </p:nvSpPr>
        <p:spPr>
          <a:xfrm>
            <a:off x="514440" y="3896640"/>
            <a:ext cx="4614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7F8E"/>
                </a:solidFill>
                <a:effectLst/>
                <a:uFillTx/>
                <a:latin typeface="Calibri"/>
                <a:ea typeface="Calibri"/>
              </a:rPr>
              <a:t>Selamat merancang — semoga setiap misi membawa siswa satu langkah lebih dekat pada pemahaman.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7"/>
          <p:cNvSpPr/>
          <p:nvPr/>
        </p:nvSpPr>
        <p:spPr>
          <a:xfrm>
            <a:off x="514440" y="4868640"/>
            <a:ext cx="102204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620" b="0" u="none" spc="26" strike="noStrike">
                <a:solidFill>
                  <a:srgbClr val="6B7F8E"/>
                </a:solidFill>
                <a:effectLst/>
                <a:uFillTx/>
                <a:latin typeface="Liberation Sans Narrow"/>
                <a:ea typeface="Liberation Sans Narrow"/>
              </a:rPr>
              <a:t>SLIDE 12 · PENUTUP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8"/>
          <p:cNvSpPr/>
          <p:nvPr/>
        </p:nvSpPr>
        <p:spPr>
          <a:xfrm>
            <a:off x="5486400" y="0"/>
            <a:ext cx="3657240" cy="5143320"/>
          </a:xfrm>
          <a:prstGeom prst="rect">
            <a:avLst/>
          </a:prstGeom>
          <a:solidFill>
            <a:srgbClr val="0E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 19"/>
          <p:cNvSpPr/>
          <p:nvPr/>
        </p:nvSpPr>
        <p:spPr>
          <a:xfrm>
            <a:off x="8001000" y="-571680"/>
            <a:ext cx="1714320" cy="1714320"/>
          </a:xfrm>
          <a:prstGeom prst="ellipse">
            <a:avLst/>
          </a:prstGeom>
          <a:solidFill>
            <a:srgbClr val="FF6B4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 20"/>
          <p:cNvSpPr/>
          <p:nvPr/>
        </p:nvSpPr>
        <p:spPr>
          <a:xfrm>
            <a:off x="5129280" y="4429080"/>
            <a:ext cx="999720" cy="999720"/>
          </a:xfrm>
          <a:prstGeom prst="ellipse">
            <a:avLst/>
          </a:pr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8625960" y="4868640"/>
            <a:ext cx="19944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927"/>
              </a:lnSpc>
              <a:tabLst>
                <a:tab pos="0" algn="l"/>
              </a:tabLst>
            </a:pPr>
            <a:r>
              <a:rPr lang="en-US" sz="620" b="1" u="none" spc="26" strike="noStrike">
                <a:solidFill>
                  <a:srgbClr val="FFE5DC"/>
                </a:solidFill>
                <a:effectLst/>
                <a:uFillTx/>
                <a:latin typeface="Calibri"/>
                <a:ea typeface="Calibri"/>
              </a:rPr>
              <a:t>IFP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2"/>
          <p:cNvSpPr/>
          <p:nvPr/>
        </p:nvSpPr>
        <p:spPr>
          <a:xfrm>
            <a:off x="491400" y="387360"/>
            <a:ext cx="857880" cy="235800"/>
          </a:xfrm>
          <a:prstGeom prst="roundRect">
            <a:avLst>
              <a:gd name="adj" fmla="val 4031468"/>
            </a:avLst>
          </a:prstGeom>
          <a:solidFill>
            <a:srgbClr val="D4EC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 23"/>
          <p:cNvSpPr/>
          <p:nvPr/>
        </p:nvSpPr>
        <p:spPr>
          <a:xfrm>
            <a:off x="713880" y="450000"/>
            <a:ext cx="5554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pc="6" strike="noStrike">
                <a:solidFill>
                  <a:srgbClr val="0E5C6B"/>
                </a:solidFill>
                <a:effectLst/>
                <a:uFillTx/>
                <a:latin typeface="Calibri"/>
                <a:ea typeface="Calibri"/>
              </a:rPr>
              <a:t>PENUTUP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4"/>
          <p:cNvSpPr/>
          <p:nvPr/>
        </p:nvSpPr>
        <p:spPr>
          <a:xfrm>
            <a:off x="600120" y="455400"/>
            <a:ext cx="997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E5C6B"/>
                </a:solidFill>
                <a:effectLst/>
                <a:uFillTx/>
                <a:latin typeface="Segoe UI Symbol"/>
                <a:ea typeface="Segoe UI Symbol"/>
              </a:rPr>
              <a:t>⚑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5"/>
          <p:cNvSpPr/>
          <p:nvPr/>
        </p:nvSpPr>
        <p:spPr>
          <a:xfrm>
            <a:off x="5829480" y="1657800"/>
            <a:ext cx="6282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0" u="none" strike="noStrike">
                <a:solidFill>
                  <a:srgbClr val="FF6B4A"/>
                </a:solidFill>
                <a:effectLst/>
                <a:uFillTx/>
                <a:latin typeface="Segoe UI Symbol"/>
                <a:ea typeface="Segoe UI Symbol"/>
              </a:rPr>
              <a:t>✦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6"/>
          <p:cNvSpPr/>
          <p:nvPr/>
        </p:nvSpPr>
        <p:spPr>
          <a:xfrm>
            <a:off x="5829480" y="2414880"/>
            <a:ext cx="2971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Terima Kasih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7"/>
          <p:cNvSpPr/>
          <p:nvPr/>
        </p:nvSpPr>
        <p:spPr>
          <a:xfrm>
            <a:off x="5829480" y="2671200"/>
            <a:ext cx="2971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97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82000"/>
                  </a:srgbClr>
                </a:solidFill>
                <a:effectLst/>
                <a:uFillTx/>
                <a:latin typeface="Calibri"/>
                <a:ea typeface="Calibri"/>
              </a:rPr>
              <a:t>Mari berdiskusi — pertanyaan, kritik, atau ide skenario Anda sangat ditunggu.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8"/>
          <p:cNvSpPr/>
          <p:nvPr/>
        </p:nvSpPr>
        <p:spPr>
          <a:xfrm>
            <a:off x="5829480" y="3078360"/>
            <a:ext cx="571320" cy="21240"/>
          </a:xfrm>
          <a:prstGeom prst="roundRect">
            <a:avLst>
              <a:gd name="adj" fmla="val 88890"/>
            </a:avLst>
          </a:prstGeom>
          <a:solidFill>
            <a:srgbClr val="FF6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2026-09-07T05:32:44Z</dcterms:created>
  <dc:creator>PptxGenJS</dc:creator>
  <dc:description/>
  <dc:language>en-US</dc:language>
  <cp:lastModifiedBy/>
  <dcterms:modified xsi:type="dcterms:W3CDTF">2026-09-07T12:59:02Z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